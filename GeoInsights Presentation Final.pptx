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nva Sans Bold" charset="1" panose="020B0803030501040103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1006" y="2636921"/>
            <a:ext cx="1314598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D2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GeoInsights: Regional Sales Analytics &amp; BI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89277" y="3496494"/>
            <a:ext cx="89094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F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2021–2024 Business Performance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71006" y="5511783"/>
            <a:ext cx="23751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D2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 Stack: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66271" y="5511783"/>
            <a:ext cx="68530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9EF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| Pandas | Power BI | DAX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71006" y="7530448"/>
            <a:ext cx="564847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E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Prepared By - Rahul Kumar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41380" y="448310"/>
            <a:ext cx="620524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Business Problem &amp;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51125"/>
            <a:ext cx="37064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Business 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50615"/>
            <a:ext cx="162306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Sales performance varies across products, channels, customers and geographic markets, making it difficult to identify the strongest revenue and profit drivers.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563110"/>
            <a:ext cx="22160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562600"/>
            <a:ext cx="15864929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Identify products, channels and regions driving revenue and profitability.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Detect seasonal patterns and transaction-value behavior.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Compare customer and state-level performance.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Identify pricing and margin patterns.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Build an interactive Power BI dashboard for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71221" y="448310"/>
            <a:ext cx="49455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Data Overview &amp;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67351"/>
            <a:ext cx="30252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Dataset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1539" y="2483201"/>
            <a:ext cx="814246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Period analyzed: 2021–2024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Final transactions: 61,626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Products: 30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Customers: 175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Channels: Wholesale, Distributor, Export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Geographic coverage: U.S. states, cities and regions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16779" y="1467351"/>
            <a:ext cx="38321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Raw Excel Sources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16779" y="2483201"/>
            <a:ext cx="3579019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Sales Orders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Customers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Regions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State Regions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2024 Budgets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60219" y="448310"/>
            <a:ext cx="716756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Data Wrangling &amp; Quality Controls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81204"/>
            <a:ext cx="55466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Python/Pandas Processing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09115"/>
            <a:ext cx="1623060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Loaded and profiled all source worksheets.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Validated missing values and duplicate records.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Standardized column names and data types.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Validated customer, product and geographic mappings.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Corrected 36 invalid 29-02-2023 dates using a documented end-of-February assumption.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Merged customer, product and geographic reference tables.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Removed redundant technical columns.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Restricted final analysis to 2021–2024.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4350" y="8257858"/>
            <a:ext cx="172593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The raw dataset contained 64,104 rows; the final analytical scope contains 61,626 transactions for 2021–2024.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94734" y="448310"/>
            <a:ext cx="72985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Feature Engineering &amp; Metric Logic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40573"/>
            <a:ext cx="424919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Engineered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40014" y="1240573"/>
            <a:ext cx="36762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Core Calculations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30513"/>
            <a:ext cx="6967984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Year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Quarter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Month Name / Month Number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Total Cost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Profit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Profit Margin 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030513"/>
            <a:ext cx="7544434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Total Cost = Quantity × Unit Cost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Profit = Revenue − Total Cost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Profit Margin % = Total Profit ÷ Total Revenue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2562" y="1980587"/>
            <a:ext cx="15702875" cy="7277713"/>
          </a:xfrm>
          <a:custGeom>
            <a:avLst/>
            <a:gdLst/>
            <a:ahLst/>
            <a:cxnLst/>
            <a:rect r="r" b="b" t="t" l="l"/>
            <a:pathLst>
              <a:path h="7277713" w="15702875">
                <a:moveTo>
                  <a:pt x="0" y="0"/>
                </a:moveTo>
                <a:lnTo>
                  <a:pt x="15702876" y="0"/>
                </a:lnTo>
                <a:lnTo>
                  <a:pt x="15702876" y="7277713"/>
                </a:lnTo>
                <a:lnTo>
                  <a:pt x="0" y="727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31" r="0" b="-303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76467" y="962025"/>
            <a:ext cx="43350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Power BI Data Model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21301" y="7111449"/>
            <a:ext cx="604539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End-to-End Project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811530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Sales → main fact table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DimDate → time intelligence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DimProduct → common product dimension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Budget2024 → separate planning table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Single-direction relationships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Dedicated _Measures table for DAX measures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66699" y="705167"/>
            <a:ext cx="40807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Core DAX Measures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66699" y="1513539"/>
            <a:ext cx="455295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Total Revenue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Total Profit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Profit Margin %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Transaction Count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6467" y="191452"/>
            <a:ext cx="43350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Power BI Data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8908" y="8077835"/>
            <a:ext cx="1531018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Excel → Pandas → Cleaning → Feature Engineering → Power BI Model → DAX → Dashboard → Insights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42199" y="448310"/>
            <a:ext cx="500360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Dashboard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11283"/>
            <a:ext cx="241458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1.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3249" y="2293336"/>
            <a:ext cx="45533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Title &amp; Navigation hub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59501"/>
            <a:ext cx="643607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2. Executive Overview &amp; Trends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3249" y="4139916"/>
            <a:ext cx="127560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Overall business health, seasonality and transaction behavior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76825"/>
            <a:ext cx="71558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3. Product &amp; Channel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3249" y="5857240"/>
            <a:ext cx="1157912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 rankings, profitability and channel contribution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790055"/>
            <a:ext cx="71379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4. Geographic &amp; Customer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3249" y="7722870"/>
            <a:ext cx="875764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Customer, state and regional performance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73712" y="448310"/>
            <a:ext cx="794057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Executive Overview &amp; Trends: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81204"/>
            <a:ext cx="8977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KPIs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13104" y="1481204"/>
            <a:ext cx="529902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Total Revenue: $1.19B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Total Profit: $443.92M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7320" y="1438024"/>
            <a:ext cx="501952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Profit Margin: 37.37%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Transactions: 61,626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56932"/>
            <a:ext cx="61555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Monthly Revenue Seasonality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3770" y="3632584"/>
            <a:ext cx="1565671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May records the strongest monthly revenue at approximately $102.27M.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February is the weakest at approximately $91.30M.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Revenue remains relatively stable during most other months.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603625"/>
            <a:ext cx="580087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Monthly Profit Contribution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3770" y="6374515"/>
            <a:ext cx="1644803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Monthly profit contribution remains comparatively stable.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December contributes approximately $38.1M, among the strongest months.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Total profit reaches $443.92M.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73712" y="448310"/>
            <a:ext cx="794057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Executive Overview &amp; Trends: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10494"/>
            <a:ext cx="629468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Transaction Value Distribution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71859"/>
            <a:ext cx="1386631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Transactions are strongly concentrated in lower-value ranges.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Frequency declines as transaction value increases.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A long right tail indicates relatively few high-value transactions.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33374"/>
            <a:ext cx="719613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Average Unit Price vs Profit Margin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94739"/>
            <a:ext cx="1596494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Most products cluster around 36–39% margins.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Pricing differences do not produce proportional margin differences.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Several products stand out as pricing/margin outliers worth investigating.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5334" y="448310"/>
            <a:ext cx="86573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 &amp; Channel Performance: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53736"/>
            <a:ext cx="59187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Top 10 Products by Revenue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37719" y="1553736"/>
            <a:ext cx="68257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Top 10 Products by Profit Margin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88452"/>
            <a:ext cx="811530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 26 leads with $112.45M.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 25 follows with $105.72M.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Products 26 and 25 are the strongest revenue contributors.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37719" y="2388452"/>
            <a:ext cx="7421581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 9 leads at 40.12%.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 7 follows at approximately 38.82%.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Top product margins remain relatively close after Product 9.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68628"/>
            <a:ext cx="69623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Revenue vs Profit — Top Products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4266" y="8077835"/>
            <a:ext cx="1573946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Products with higher revenue generally produce higher absolute profit.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 26 leads both revenue and profit among the displayed products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5334" y="448310"/>
            <a:ext cx="86573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Product &amp; Channel Performance: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01520"/>
            <a:ext cx="492368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Profit Share by Channel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20139" y="1601520"/>
            <a:ext cx="59188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Revenue &amp; Profit by Channel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96235"/>
            <a:ext cx="811530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Wholesale → approximately 53.59% of total profit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Distributor → 31.56%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Export → 14.85%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0139" y="2496235"/>
            <a:ext cx="733916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Wholesale: approximately $642M revenue / $238M profit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Distributor: $372M / $140M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Export: $173M / $66M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91175"/>
            <a:ext cx="51545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Profit Margin by Channel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085890"/>
            <a:ext cx="491326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Export → 38.03%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Distributor → 37.64%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Wholesale → 37.04%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0923" y="8677910"/>
            <a:ext cx="159061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Wholesale drives scale, while Export delivers the strongest margin efficiency.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32300" y="448627"/>
            <a:ext cx="862339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Geographic &amp; Customer Insights: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62467"/>
            <a:ext cx="62915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Top 10 Customers by Revenue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61958"/>
            <a:ext cx="967527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Aibox Company leads at $12.16M.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State Ltd follows at $11.85M.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Pixoboo Corp contributes approximately $10.65M.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590665"/>
            <a:ext cx="10162556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Neutr</a:t>
            </a: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ogena Ltd leads at 44.59%.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Avamba Company follows at 44.32%.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Amerisourc Corp reaches approximately 43.98%.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76424"/>
            <a:ext cx="719851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Top 10 Customers by Profit Margin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91256" y="3074321"/>
            <a:ext cx="6068044" cy="256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698" indent="-315349" lvl="1">
              <a:lnSpc>
                <a:spcPts val="4089"/>
              </a:lnSpc>
              <a:buFont typeface="Arial"/>
              <a:buChar char="•"/>
            </a:pPr>
            <a:r>
              <a:rPr lang="en-US" sz="2921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Calif</a:t>
            </a:r>
            <a:r>
              <a:rPr lang="en-US" sz="2921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ornia dominates at $220.26M.</a:t>
            </a:r>
          </a:p>
          <a:p>
            <a:pPr algn="l" marL="630698" indent="-315349" lvl="1">
              <a:lnSpc>
                <a:spcPts val="4089"/>
              </a:lnSpc>
              <a:buFont typeface="Arial"/>
              <a:buChar char="•"/>
            </a:pPr>
            <a:r>
              <a:rPr lang="en-US" sz="2921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Illinois follows at $107.13M.</a:t>
            </a:r>
          </a:p>
          <a:p>
            <a:pPr algn="l" marL="630698" indent="-315349" lvl="1">
              <a:lnSpc>
                <a:spcPts val="4089"/>
              </a:lnSpc>
              <a:buFont typeface="Arial"/>
              <a:buChar char="•"/>
            </a:pPr>
            <a:r>
              <a:rPr lang="en-US" sz="2921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Florida: $87.01M</a:t>
            </a:r>
          </a:p>
          <a:p>
            <a:pPr algn="l" marL="630698" indent="-315349" lvl="1">
              <a:lnSpc>
                <a:spcPts val="4089"/>
              </a:lnSpc>
              <a:buFont typeface="Arial"/>
              <a:buChar char="•"/>
            </a:pPr>
            <a:r>
              <a:rPr lang="en-US" sz="2921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Texas: $80.77M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91256" y="1962467"/>
            <a:ext cx="53462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Top 10 States by Revenue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48752"/>
            <a:ext cx="612889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Revenue Share by U.S. Region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23166" y="1448752"/>
            <a:ext cx="57361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Profit Margin by U.S. Region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37690"/>
            <a:ext cx="720878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West → 30.14% / $357.99M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South → 27.08% / $321.67M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Midwest → 25.96% / $308.32M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Northeast → 16.83% / $199.85M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23166" y="2237690"/>
            <a:ext cx="4772174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Midwest → 37.47%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West → 37.47%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South → 37.36%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Northeast → 37.06%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763" y="4878521"/>
            <a:ext cx="1620653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Regional margins are extremely similar, meaning regional revenue differences are driven primarily by scale rather than major profitability differences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8479" y="6919278"/>
            <a:ext cx="56093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Profit Distribution by State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561580"/>
            <a:ext cx="16230600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California represents the largest state-level profit contribution.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Illinois and Florida form the next major profit contributors.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Profit is geographically concentrated among a relatively small group of leading states.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32300" y="448310"/>
            <a:ext cx="862339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Geographic &amp; Customer Insights: Findings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28098" y="448310"/>
            <a:ext cx="44318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Key Business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376678"/>
            <a:ext cx="15662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Risk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138043"/>
            <a:ext cx="162306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Top-10 customers contribute only about 8.84% of total revenue, indicating relatively diversified customer exposure.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4350" y="1212156"/>
            <a:ext cx="1777365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Seasonality:</a:t>
            </a: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February is the weakest revenue month; May performs strongest.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Product:</a:t>
            </a: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Product 26 leads revenue; Product 9 leads margin.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Channel:</a:t>
            </a: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Wholesale delivers scale; Export delivers the highest margin.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Geography:</a:t>
            </a: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West leads regional revenue and California dominates state performance.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Customer</a:t>
            </a: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: Top-revenue and top-margin customers differ, creating targeted account-strategy opportunities.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Profitability:</a:t>
            </a: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Margins remain relatively stable across channels and regions, so revenue growth depends strongly on scale, product mix and market penetration.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22653" y="448310"/>
            <a:ext cx="58426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Business Recommendations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2461" y="1332497"/>
            <a:ext cx="16406839" cy="812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1.</a:t>
            </a:r>
            <a:r>
              <a:rPr lang="en-US" sz="3083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Optimize Seasonal Planning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Strengthen promotions and pipeline activity around weaker February performance while preparing inventory/capacity for stronger months.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2.</a:t>
            </a:r>
            <a:r>
              <a:rPr lang="en-US" sz="3083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 Prioritize Product Leaders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Protect Products 26 and 25 while studying Product 9's higher-margin characteristics for pricing/product-mix opportunities.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3. </a:t>
            </a:r>
            <a:r>
              <a:rPr lang="en-US" sz="3083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Balance Channel Strategy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Maintain Wholesale for scale while exploring profitable expansion opportunities in Export.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4. </a:t>
            </a:r>
            <a:r>
              <a:rPr lang="en-US" sz="3083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Expand Geographic Opportunities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Study the California/West playbook and identify transferable drivers for lower-revenue markets, particularly the Northeast.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5. </a:t>
            </a:r>
            <a:r>
              <a:rPr lang="en-US" sz="3083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Customer Growth Strategy</a:t>
            </a:r>
          </a:p>
          <a:p>
            <a:pPr algn="l">
              <a:lnSpc>
                <a:spcPts val="4316"/>
              </a:lnSpc>
              <a:spcBef>
                <a:spcPct val="0"/>
              </a:spcBef>
            </a:pPr>
            <a:r>
              <a:rPr lang="en-US" sz="3083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Retain top revenue accounts while targeting high-margin customers for cross-sell and upsell opportunities.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85371" y="448310"/>
            <a:ext cx="711725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Project Outcome &amp; Business Value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39194"/>
            <a:ext cx="16230600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Converted fragmented multi-sheet Excel data into a validated analytical dataset.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Established correct transaction grain and financial calculations.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Developed a structured Power BI data model with reusable DAX measures.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Built three interactive analytical dashboards plus a navigation page.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Enabled analysis by Year, Product, Channel, Region and State.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Converted operational data into actionable product, channel, customer and geographic insights.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83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77783" y="448310"/>
            <a:ext cx="23324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62467"/>
            <a:ext cx="23324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76671"/>
            <a:ext cx="162306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GeoInsights demonstrates an end-to-end analytics workflow—from data quality and feature engineering to dimensional modelling, DAX and interactive business intelligence.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93389"/>
            <a:ext cx="314682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Final takeaway: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511879"/>
            <a:ext cx="162306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The analysis identifies where revenue originates, which products and channels create value, how performance varies seasonally and geographically, and where management can focus future growth efforts.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77783" y="8123388"/>
            <a:ext cx="243095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9EFF1F"/>
                </a:solidFill>
                <a:latin typeface="Canva Sans"/>
                <a:ea typeface="Canva Sans"/>
                <a:cs typeface="Canva Sans"/>
                <a:sym typeface="Canva Sans"/>
              </a:rPr>
              <a:t>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DAHRlklSoh8</dc:identifier>
  <dcterms:modified xsi:type="dcterms:W3CDTF">2011-08-01T06:04:30Z</dcterms:modified>
  <cp:revision>1</cp:revision>
  <dc:title>GeoInsights: Regional Sales Analytics &amp; BI Dashboard</dc:title>
</cp:coreProperties>
</file>